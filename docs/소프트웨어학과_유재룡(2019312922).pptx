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21412200" cy="30279975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3" clrIdx="0">
    <p:extLst>
      <p:ext uri="{19B8F6BF-5375-455C-9EA6-DF929625EA0E}">
        <p15:presenceInfo xmlns:p15="http://schemas.microsoft.com/office/powerpoint/2012/main" userId="Windows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404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5915" y="4955545"/>
            <a:ext cx="18200370" cy="10541917"/>
          </a:xfrm>
        </p:spPr>
        <p:txBody>
          <a:bodyPr anchor="b"/>
          <a:lstStyle>
            <a:lvl1pPr algn="ctr">
              <a:defRPr sz="140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6525" y="15903998"/>
            <a:ext cx="16059150" cy="7310649"/>
          </a:xfrm>
        </p:spPr>
        <p:txBody>
          <a:bodyPr/>
          <a:lstStyle>
            <a:lvl1pPr marL="0" indent="0" algn="ctr">
              <a:buNone/>
              <a:defRPr sz="5620"/>
            </a:lvl1pPr>
            <a:lvl2pPr marL="1070625" indent="0" algn="ctr">
              <a:buNone/>
              <a:defRPr sz="4683"/>
            </a:lvl2pPr>
            <a:lvl3pPr marL="2141250" indent="0" algn="ctr">
              <a:buNone/>
              <a:defRPr sz="4215"/>
            </a:lvl3pPr>
            <a:lvl4pPr marL="3211876" indent="0" algn="ctr">
              <a:buNone/>
              <a:defRPr sz="3747"/>
            </a:lvl4pPr>
            <a:lvl5pPr marL="4282501" indent="0" algn="ctr">
              <a:buNone/>
              <a:defRPr sz="3747"/>
            </a:lvl5pPr>
            <a:lvl6pPr marL="5353126" indent="0" algn="ctr">
              <a:buNone/>
              <a:defRPr sz="3747"/>
            </a:lvl6pPr>
            <a:lvl7pPr marL="6423751" indent="0" algn="ctr">
              <a:buNone/>
              <a:defRPr sz="3747"/>
            </a:lvl7pPr>
            <a:lvl8pPr marL="7494377" indent="0" algn="ctr">
              <a:buNone/>
              <a:defRPr sz="3747"/>
            </a:lvl8pPr>
            <a:lvl9pPr marL="8565002" indent="0" algn="ctr">
              <a:buNone/>
              <a:defRPr sz="3747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1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38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937" y="7548975"/>
            <a:ext cx="18468023" cy="12595626"/>
          </a:xfrm>
        </p:spPr>
        <p:txBody>
          <a:bodyPr anchor="b"/>
          <a:lstStyle>
            <a:lvl1pPr>
              <a:defRPr sz="140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937" y="20263761"/>
            <a:ext cx="18468023" cy="6623742"/>
          </a:xfrm>
        </p:spPr>
        <p:txBody>
          <a:bodyPr/>
          <a:lstStyle>
            <a:lvl1pPr marL="0" indent="0">
              <a:buNone/>
              <a:defRPr sz="5620">
                <a:solidFill>
                  <a:schemeClr val="tx1"/>
                </a:solidFill>
              </a:defRPr>
            </a:lvl1pPr>
            <a:lvl2pPr marL="1070625" indent="0">
              <a:buNone/>
              <a:defRPr sz="4683">
                <a:solidFill>
                  <a:schemeClr val="tx1">
                    <a:tint val="75000"/>
                  </a:schemeClr>
                </a:solidFill>
              </a:defRPr>
            </a:lvl2pPr>
            <a:lvl3pPr marL="2141250" indent="0">
              <a:buNone/>
              <a:defRPr sz="4215">
                <a:solidFill>
                  <a:schemeClr val="tx1">
                    <a:tint val="75000"/>
                  </a:schemeClr>
                </a:solidFill>
              </a:defRPr>
            </a:lvl3pPr>
            <a:lvl4pPr marL="3211876" indent="0">
              <a:buNone/>
              <a:defRPr sz="3747">
                <a:solidFill>
                  <a:schemeClr val="tx1">
                    <a:tint val="75000"/>
                  </a:schemeClr>
                </a:solidFill>
              </a:defRPr>
            </a:lvl4pPr>
            <a:lvl5pPr marL="4282501" indent="0">
              <a:buNone/>
              <a:defRPr sz="3747">
                <a:solidFill>
                  <a:schemeClr val="tx1">
                    <a:tint val="75000"/>
                  </a:schemeClr>
                </a:solidFill>
              </a:defRPr>
            </a:lvl5pPr>
            <a:lvl6pPr marL="5353126" indent="0">
              <a:buNone/>
              <a:defRPr sz="3747">
                <a:solidFill>
                  <a:schemeClr val="tx1">
                    <a:tint val="75000"/>
                  </a:schemeClr>
                </a:solidFill>
              </a:defRPr>
            </a:lvl6pPr>
            <a:lvl7pPr marL="6423751" indent="0">
              <a:buNone/>
              <a:defRPr sz="3747">
                <a:solidFill>
                  <a:schemeClr val="tx1">
                    <a:tint val="75000"/>
                  </a:schemeClr>
                </a:solidFill>
              </a:defRPr>
            </a:lvl7pPr>
            <a:lvl8pPr marL="7494377" indent="0">
              <a:buNone/>
              <a:defRPr sz="3747">
                <a:solidFill>
                  <a:schemeClr val="tx1">
                    <a:tint val="75000"/>
                  </a:schemeClr>
                </a:solidFill>
              </a:defRPr>
            </a:lvl8pPr>
            <a:lvl9pPr marL="8565002" indent="0">
              <a:buNone/>
              <a:defRPr sz="37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699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2089" y="8060641"/>
            <a:ext cx="9100185" cy="192123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9926" y="8060641"/>
            <a:ext cx="9100185" cy="192123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153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877" y="1612135"/>
            <a:ext cx="18468023" cy="585272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4880" y="7422802"/>
            <a:ext cx="9058363" cy="3637800"/>
          </a:xfrm>
        </p:spPr>
        <p:txBody>
          <a:bodyPr anchor="b"/>
          <a:lstStyle>
            <a:lvl1pPr marL="0" indent="0">
              <a:buNone/>
              <a:defRPr sz="5620" b="1"/>
            </a:lvl1pPr>
            <a:lvl2pPr marL="1070625" indent="0">
              <a:buNone/>
              <a:defRPr sz="4683" b="1"/>
            </a:lvl2pPr>
            <a:lvl3pPr marL="2141250" indent="0">
              <a:buNone/>
              <a:defRPr sz="4215" b="1"/>
            </a:lvl3pPr>
            <a:lvl4pPr marL="3211876" indent="0">
              <a:buNone/>
              <a:defRPr sz="3747" b="1"/>
            </a:lvl4pPr>
            <a:lvl5pPr marL="4282501" indent="0">
              <a:buNone/>
              <a:defRPr sz="3747" b="1"/>
            </a:lvl5pPr>
            <a:lvl6pPr marL="5353126" indent="0">
              <a:buNone/>
              <a:defRPr sz="3747" b="1"/>
            </a:lvl6pPr>
            <a:lvl7pPr marL="6423751" indent="0">
              <a:buNone/>
              <a:defRPr sz="3747" b="1"/>
            </a:lvl7pPr>
            <a:lvl8pPr marL="7494377" indent="0">
              <a:buNone/>
              <a:defRPr sz="3747" b="1"/>
            </a:lvl8pPr>
            <a:lvl9pPr marL="8565002" indent="0">
              <a:buNone/>
              <a:defRPr sz="374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4880" y="11060602"/>
            <a:ext cx="9058363" cy="16268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9927" y="7422802"/>
            <a:ext cx="9102974" cy="3637800"/>
          </a:xfrm>
        </p:spPr>
        <p:txBody>
          <a:bodyPr anchor="b"/>
          <a:lstStyle>
            <a:lvl1pPr marL="0" indent="0">
              <a:buNone/>
              <a:defRPr sz="5620" b="1"/>
            </a:lvl1pPr>
            <a:lvl2pPr marL="1070625" indent="0">
              <a:buNone/>
              <a:defRPr sz="4683" b="1"/>
            </a:lvl2pPr>
            <a:lvl3pPr marL="2141250" indent="0">
              <a:buNone/>
              <a:defRPr sz="4215" b="1"/>
            </a:lvl3pPr>
            <a:lvl4pPr marL="3211876" indent="0">
              <a:buNone/>
              <a:defRPr sz="3747" b="1"/>
            </a:lvl4pPr>
            <a:lvl5pPr marL="4282501" indent="0">
              <a:buNone/>
              <a:defRPr sz="3747" b="1"/>
            </a:lvl5pPr>
            <a:lvl6pPr marL="5353126" indent="0">
              <a:buNone/>
              <a:defRPr sz="3747" b="1"/>
            </a:lvl6pPr>
            <a:lvl7pPr marL="6423751" indent="0">
              <a:buNone/>
              <a:defRPr sz="3747" b="1"/>
            </a:lvl7pPr>
            <a:lvl8pPr marL="7494377" indent="0">
              <a:buNone/>
              <a:defRPr sz="3747" b="1"/>
            </a:lvl8pPr>
            <a:lvl9pPr marL="8565002" indent="0">
              <a:buNone/>
              <a:defRPr sz="374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39927" y="11060602"/>
            <a:ext cx="9102974" cy="16268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92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94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890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878" y="2018665"/>
            <a:ext cx="6905992" cy="7065328"/>
          </a:xfrm>
        </p:spPr>
        <p:txBody>
          <a:bodyPr anchor="b"/>
          <a:lstStyle>
            <a:lvl1pPr>
              <a:defRPr sz="74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02974" y="4359762"/>
            <a:ext cx="10839926" cy="21518408"/>
          </a:xfrm>
        </p:spPr>
        <p:txBody>
          <a:bodyPr/>
          <a:lstStyle>
            <a:lvl1pPr>
              <a:defRPr sz="7493"/>
            </a:lvl1pPr>
            <a:lvl2pPr>
              <a:defRPr sz="6557"/>
            </a:lvl2pPr>
            <a:lvl3pPr>
              <a:defRPr sz="5620"/>
            </a:lvl3pPr>
            <a:lvl4pPr>
              <a:defRPr sz="4683"/>
            </a:lvl4pPr>
            <a:lvl5pPr>
              <a:defRPr sz="4683"/>
            </a:lvl5pPr>
            <a:lvl6pPr>
              <a:defRPr sz="4683"/>
            </a:lvl6pPr>
            <a:lvl7pPr>
              <a:defRPr sz="4683"/>
            </a:lvl7pPr>
            <a:lvl8pPr>
              <a:defRPr sz="4683"/>
            </a:lvl8pPr>
            <a:lvl9pPr>
              <a:defRPr sz="468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4878" y="9083992"/>
            <a:ext cx="6905992" cy="16829220"/>
          </a:xfrm>
        </p:spPr>
        <p:txBody>
          <a:bodyPr/>
          <a:lstStyle>
            <a:lvl1pPr marL="0" indent="0">
              <a:buNone/>
              <a:defRPr sz="3747"/>
            </a:lvl1pPr>
            <a:lvl2pPr marL="1070625" indent="0">
              <a:buNone/>
              <a:defRPr sz="3278"/>
            </a:lvl2pPr>
            <a:lvl3pPr marL="2141250" indent="0">
              <a:buNone/>
              <a:defRPr sz="2810"/>
            </a:lvl3pPr>
            <a:lvl4pPr marL="3211876" indent="0">
              <a:buNone/>
              <a:defRPr sz="2342"/>
            </a:lvl4pPr>
            <a:lvl5pPr marL="4282501" indent="0">
              <a:buNone/>
              <a:defRPr sz="2342"/>
            </a:lvl5pPr>
            <a:lvl6pPr marL="5353126" indent="0">
              <a:buNone/>
              <a:defRPr sz="2342"/>
            </a:lvl6pPr>
            <a:lvl7pPr marL="6423751" indent="0">
              <a:buNone/>
              <a:defRPr sz="2342"/>
            </a:lvl7pPr>
            <a:lvl8pPr marL="7494377" indent="0">
              <a:buNone/>
              <a:defRPr sz="2342"/>
            </a:lvl8pPr>
            <a:lvl9pPr marL="8565002" indent="0">
              <a:buNone/>
              <a:defRPr sz="234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13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4878" y="2018665"/>
            <a:ext cx="6905992" cy="7065328"/>
          </a:xfrm>
        </p:spPr>
        <p:txBody>
          <a:bodyPr anchor="b"/>
          <a:lstStyle>
            <a:lvl1pPr>
              <a:defRPr sz="749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02974" y="4359762"/>
            <a:ext cx="10839926" cy="21518408"/>
          </a:xfrm>
        </p:spPr>
        <p:txBody>
          <a:bodyPr anchor="t"/>
          <a:lstStyle>
            <a:lvl1pPr marL="0" indent="0">
              <a:buNone/>
              <a:defRPr sz="7493"/>
            </a:lvl1pPr>
            <a:lvl2pPr marL="1070625" indent="0">
              <a:buNone/>
              <a:defRPr sz="6557"/>
            </a:lvl2pPr>
            <a:lvl3pPr marL="2141250" indent="0">
              <a:buNone/>
              <a:defRPr sz="5620"/>
            </a:lvl3pPr>
            <a:lvl4pPr marL="3211876" indent="0">
              <a:buNone/>
              <a:defRPr sz="4683"/>
            </a:lvl4pPr>
            <a:lvl5pPr marL="4282501" indent="0">
              <a:buNone/>
              <a:defRPr sz="4683"/>
            </a:lvl5pPr>
            <a:lvl6pPr marL="5353126" indent="0">
              <a:buNone/>
              <a:defRPr sz="4683"/>
            </a:lvl6pPr>
            <a:lvl7pPr marL="6423751" indent="0">
              <a:buNone/>
              <a:defRPr sz="4683"/>
            </a:lvl7pPr>
            <a:lvl8pPr marL="7494377" indent="0">
              <a:buNone/>
              <a:defRPr sz="4683"/>
            </a:lvl8pPr>
            <a:lvl9pPr marL="8565002" indent="0">
              <a:buNone/>
              <a:defRPr sz="468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4878" y="9083992"/>
            <a:ext cx="6905992" cy="16829220"/>
          </a:xfrm>
        </p:spPr>
        <p:txBody>
          <a:bodyPr/>
          <a:lstStyle>
            <a:lvl1pPr marL="0" indent="0">
              <a:buNone/>
              <a:defRPr sz="3747"/>
            </a:lvl1pPr>
            <a:lvl2pPr marL="1070625" indent="0">
              <a:buNone/>
              <a:defRPr sz="3278"/>
            </a:lvl2pPr>
            <a:lvl3pPr marL="2141250" indent="0">
              <a:buNone/>
              <a:defRPr sz="2810"/>
            </a:lvl3pPr>
            <a:lvl4pPr marL="3211876" indent="0">
              <a:buNone/>
              <a:defRPr sz="2342"/>
            </a:lvl4pPr>
            <a:lvl5pPr marL="4282501" indent="0">
              <a:buNone/>
              <a:defRPr sz="2342"/>
            </a:lvl5pPr>
            <a:lvl6pPr marL="5353126" indent="0">
              <a:buNone/>
              <a:defRPr sz="2342"/>
            </a:lvl6pPr>
            <a:lvl7pPr marL="6423751" indent="0">
              <a:buNone/>
              <a:defRPr sz="2342"/>
            </a:lvl7pPr>
            <a:lvl8pPr marL="7494377" indent="0">
              <a:buNone/>
              <a:defRPr sz="2342"/>
            </a:lvl8pPr>
            <a:lvl9pPr marL="8565002" indent="0">
              <a:buNone/>
              <a:defRPr sz="234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790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1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3107" y="1612128"/>
            <a:ext cx="4617006" cy="25660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2090" y="1612128"/>
            <a:ext cx="13583364" cy="25660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878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2089" y="1612135"/>
            <a:ext cx="18468023" cy="5852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089" y="8060641"/>
            <a:ext cx="18468023" cy="19212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2089" y="28065058"/>
            <a:ext cx="4817745" cy="1612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829D1-A1F8-4D8A-8034-D991785937F1}" type="datetimeFigureOut">
              <a:rPr lang="ko-KR" altLang="en-US" smtClean="0"/>
              <a:t>2026-05-01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92791" y="28065058"/>
            <a:ext cx="7226618" cy="1612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22366" y="28065058"/>
            <a:ext cx="4817745" cy="16121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D2E7A-7CC2-49E7-BB4C-17BEA5693B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24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141250" rtl="0" eaLnBrk="1" latinLnBrk="1" hangingPunct="1">
        <a:lnSpc>
          <a:spcPct val="90000"/>
        </a:lnSpc>
        <a:spcBef>
          <a:spcPct val="0"/>
        </a:spcBef>
        <a:buNone/>
        <a:defRPr sz="10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5313" indent="-535313" algn="l" defTabSz="2141250" rtl="0" eaLnBrk="1" latinLnBrk="1" hangingPunct="1">
        <a:lnSpc>
          <a:spcPct val="90000"/>
        </a:lnSpc>
        <a:spcBef>
          <a:spcPts val="2342"/>
        </a:spcBef>
        <a:buFont typeface="Arial" panose="020B0604020202020204" pitchFamily="34" charset="0"/>
        <a:buChar char="•"/>
        <a:defRPr sz="6557" kern="1200">
          <a:solidFill>
            <a:schemeClr val="tx1"/>
          </a:solidFill>
          <a:latin typeface="+mn-lt"/>
          <a:ea typeface="+mn-ea"/>
          <a:cs typeface="+mn-cs"/>
        </a:defRPr>
      </a:lvl1pPr>
      <a:lvl2pPr marL="1605938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5620" kern="1200">
          <a:solidFill>
            <a:schemeClr val="tx1"/>
          </a:solidFill>
          <a:latin typeface="+mn-lt"/>
          <a:ea typeface="+mn-ea"/>
          <a:cs typeface="+mn-cs"/>
        </a:defRPr>
      </a:lvl2pPr>
      <a:lvl3pPr marL="2676563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683" kern="1200">
          <a:solidFill>
            <a:schemeClr val="tx1"/>
          </a:solidFill>
          <a:latin typeface="+mn-lt"/>
          <a:ea typeface="+mn-ea"/>
          <a:cs typeface="+mn-cs"/>
        </a:defRPr>
      </a:lvl3pPr>
      <a:lvl4pPr marL="3747188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4pPr>
      <a:lvl5pPr marL="4817814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5pPr>
      <a:lvl6pPr marL="5888439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959064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8029689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9100315" indent="-535313" algn="l" defTabSz="2141250" rtl="0" eaLnBrk="1" latinLnBrk="1" hangingPunct="1">
        <a:lnSpc>
          <a:spcPct val="90000"/>
        </a:lnSpc>
        <a:spcBef>
          <a:spcPts val="1171"/>
        </a:spcBef>
        <a:buFont typeface="Arial" panose="020B0604020202020204" pitchFamily="34" charset="0"/>
        <a:buChar char="•"/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1pPr>
      <a:lvl2pPr marL="1070625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2pPr>
      <a:lvl3pPr marL="2141250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3pPr>
      <a:lvl4pPr marL="3211876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4pPr>
      <a:lvl5pPr marL="4282501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5pPr>
      <a:lvl6pPr marL="5353126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6pPr>
      <a:lvl7pPr marL="6423751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7pPr>
      <a:lvl8pPr marL="7494377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8pPr>
      <a:lvl9pPr marL="8565002" algn="l" defTabSz="2141250" rtl="0" eaLnBrk="1" latinLnBrk="1" hangingPunct="1">
        <a:defRPr sz="4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-72361" y="-29643"/>
            <a:ext cx="21412200" cy="7439949"/>
            <a:chOff x="35736" y="840598"/>
            <a:chExt cx="21412200" cy="7439949"/>
          </a:xfrm>
        </p:grpSpPr>
        <p:grpSp>
          <p:nvGrpSpPr>
            <p:cNvPr id="91" name="그룹 90"/>
            <p:cNvGrpSpPr/>
            <p:nvPr/>
          </p:nvGrpSpPr>
          <p:grpSpPr>
            <a:xfrm>
              <a:off x="35736" y="840598"/>
              <a:ext cx="21412200" cy="2214040"/>
              <a:chOff x="0" y="353291"/>
              <a:chExt cx="21674138" cy="2241125"/>
            </a:xfrm>
          </p:grpSpPr>
          <p:sp>
            <p:nvSpPr>
              <p:cNvPr id="10" name="직사각형 9"/>
              <p:cNvSpPr/>
              <p:nvPr/>
            </p:nvSpPr>
            <p:spPr>
              <a:xfrm>
                <a:off x="529" y="824831"/>
                <a:ext cx="21673609" cy="1125488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60588" tIns="80294" rIns="160588" bIns="80294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161"/>
              </a:p>
            </p:txBody>
          </p:sp>
          <p:pic>
            <p:nvPicPr>
              <p:cNvPr id="11" name="그림 10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353291"/>
                <a:ext cx="2241125" cy="2241125"/>
              </a:xfrm>
              <a:prstGeom prst="rect">
                <a:avLst/>
              </a:prstGeom>
            </p:spPr>
          </p:pic>
          <p:sp>
            <p:nvSpPr>
              <p:cNvPr id="12" name="Text Box 43"/>
              <p:cNvSpPr txBox="1">
                <a:spLocks noChangeArrowheads="1"/>
              </p:cNvSpPr>
              <p:nvPr/>
            </p:nvSpPr>
            <p:spPr bwMode="auto">
              <a:xfrm>
                <a:off x="2467514" y="801808"/>
                <a:ext cx="6141550" cy="1276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158058" tIns="82191" rIns="158058" bIns="82191">
                <a:spAutoFit/>
              </a:bodyPr>
              <a:lstStyle>
                <a:lvl1pPr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 sz="3556" dirty="0"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성균관대학교                     소프트웨어융합대학</a:t>
                </a:r>
                <a:endParaRPr lang="en-US" altLang="ko-KR" sz="3556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  <p:sp>
            <p:nvSpPr>
              <p:cNvPr id="13" name="Text Box 43"/>
              <p:cNvSpPr txBox="1">
                <a:spLocks noChangeArrowheads="1"/>
              </p:cNvSpPr>
              <p:nvPr/>
            </p:nvSpPr>
            <p:spPr bwMode="auto">
              <a:xfrm>
                <a:off x="18745199" y="889751"/>
                <a:ext cx="2841433" cy="845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158058" tIns="82191" rIns="158058" bIns="82191">
                <a:spAutoFit/>
              </a:bodyPr>
              <a:lstStyle>
                <a:lvl1pPr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ko-KR" altLang="en-US" sz="4347" u="sng" dirty="0">
                    <a:solidFill>
                      <a:schemeClr val="bg1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연구작품</a:t>
                </a:r>
                <a:endParaRPr lang="en-US" altLang="ko-KR" sz="4347" u="sng" dirty="0">
                  <a:solidFill>
                    <a:schemeClr val="bg1"/>
                  </a:solidFill>
                  <a:latin typeface="HY견고딕" panose="02030600000101010101" pitchFamily="18" charset="-127"/>
                  <a:ea typeface="HY견고딕" panose="02030600000101010101" pitchFamily="18" charset="-127"/>
                </a:endParaRPr>
              </a:p>
            </p:txBody>
          </p:sp>
        </p:grpSp>
        <p:sp>
          <p:nvSpPr>
            <p:cNvPr id="14" name="Rectangle 30"/>
            <p:cNvSpPr>
              <a:spLocks noChangeArrowheads="1"/>
            </p:cNvSpPr>
            <p:nvPr/>
          </p:nvSpPr>
          <p:spPr bwMode="auto">
            <a:xfrm>
              <a:off x="1449381" y="2436140"/>
              <a:ext cx="19014247" cy="4908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291664" tIns="145832" rIns="291664" bIns="145832" anchor="ctr"/>
            <a:lstStyle/>
            <a:p>
              <a:pPr algn="ctr" defTabSz="2917022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DART </a:t>
              </a: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공시 기반 </a:t>
              </a: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AI </a:t>
              </a: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주식 분석 비서</a:t>
              </a:r>
              <a:br>
                <a:rPr lang="ko-KR" altLang="en-US" sz="4347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3600" dirty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유재룡</a:t>
              </a:r>
              <a:br>
                <a:rPr lang="ko-KR" altLang="en-US" sz="3600" dirty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3600" dirty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 성균관대학교 소프트웨어대학</a:t>
              </a:r>
              <a:endParaRPr lang="en-US" altLang="ko-KR" sz="3600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 defTabSz="2917022">
                <a:defRPr/>
              </a:pPr>
              <a:br>
                <a:rPr lang="ko-KR" altLang="en-US" sz="4347" dirty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</a:rPr>
                <a:t>AI Stock Analyst based on DART XBRL Disclosures</a:t>
              </a:r>
              <a:br>
                <a:rPr lang="en-US" altLang="ko-KR" sz="4347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3600" dirty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Yoo Jae Ryong</a:t>
              </a:r>
            </a:p>
            <a:p>
              <a:pPr algn="ctr" defTabSz="2917022">
                <a:defRPr/>
              </a:pPr>
              <a:r>
                <a:rPr lang="en-US" altLang="ko-KR" sz="3600" dirty="0">
                  <a:solidFill>
                    <a:schemeClr val="tx2"/>
                  </a:solidFill>
                  <a:latin typeface="맑은 고딕" pitchFamily="50" charset="-127"/>
                  <a:ea typeface="맑은 고딕" pitchFamily="50" charset="-127"/>
                </a:rPr>
                <a:t>Sungkyunkwan University </a:t>
              </a:r>
            </a:p>
          </p:txBody>
        </p:sp>
        <p:grpSp>
          <p:nvGrpSpPr>
            <p:cNvPr id="92" name="그룹 91"/>
            <p:cNvGrpSpPr/>
            <p:nvPr/>
          </p:nvGrpSpPr>
          <p:grpSpPr>
            <a:xfrm>
              <a:off x="1302743" y="7633172"/>
              <a:ext cx="19023657" cy="647375"/>
              <a:chOff x="1178981" y="7640065"/>
              <a:chExt cx="19256375" cy="655294"/>
            </a:xfrm>
          </p:grpSpPr>
          <p:grpSp>
            <p:nvGrpSpPr>
              <p:cNvPr id="89" name="그룹 88"/>
              <p:cNvGrpSpPr/>
              <p:nvPr/>
            </p:nvGrpSpPr>
            <p:grpSpPr>
              <a:xfrm>
                <a:off x="1178981" y="7707984"/>
                <a:ext cx="9291637" cy="587375"/>
                <a:chOff x="1805494" y="8142638"/>
                <a:chExt cx="9291637" cy="587375"/>
              </a:xfrm>
            </p:grpSpPr>
            <p:sp>
              <p:nvSpPr>
                <p:cNvPr id="22" name="AutoShape 40"/>
                <p:cNvSpPr>
                  <a:spLocks noChangeArrowheads="1"/>
                </p:cNvSpPr>
                <p:nvPr/>
              </p:nvSpPr>
              <p:spPr bwMode="auto">
                <a:xfrm>
                  <a:off x="1805494" y="8310913"/>
                  <a:ext cx="576262" cy="38417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txBody>
                <a:bodyPr wrap="none" lIns="88912" tIns="46234" rIns="88912" bIns="46234" anchor="ctr"/>
                <a:lstStyle>
                  <a:lvl1pPr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5730"/>
                </a:p>
              </p:txBody>
            </p:sp>
            <p:sp>
              <p:nvSpPr>
                <p:cNvPr id="2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2413506" y="8142638"/>
                  <a:ext cx="8683625" cy="5873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88912" tIns="46234" rIns="88912" bIns="46234">
                  <a:spAutoFit/>
                </a:bodyPr>
                <a:lstStyle>
                  <a:lvl1pPr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r>
                    <a:rPr lang="ko-KR" altLang="en-US" sz="3200" dirty="0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지도 교수</a:t>
                  </a:r>
                  <a:r>
                    <a:rPr lang="en-US" altLang="ko-KR" sz="3200" dirty="0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:  </a:t>
                  </a:r>
                  <a:r>
                    <a:rPr lang="ko-KR" altLang="en-US" sz="3200" dirty="0" err="1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신동군</a:t>
                  </a:r>
                  <a:r>
                    <a:rPr lang="ko-KR" altLang="en-US" sz="3200" dirty="0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 교수님</a:t>
                  </a:r>
                </a:p>
              </p:txBody>
            </p:sp>
          </p:grpSp>
          <p:grpSp>
            <p:nvGrpSpPr>
              <p:cNvPr id="90" name="그룹 89"/>
              <p:cNvGrpSpPr/>
              <p:nvPr/>
            </p:nvGrpSpPr>
            <p:grpSpPr>
              <a:xfrm>
                <a:off x="11143719" y="7640065"/>
                <a:ext cx="9291637" cy="587375"/>
                <a:chOff x="11128881" y="8142638"/>
                <a:chExt cx="9291637" cy="587375"/>
              </a:xfrm>
            </p:grpSpPr>
            <p:sp>
              <p:nvSpPr>
                <p:cNvPr id="24" name="AutoShape 40"/>
                <p:cNvSpPr>
                  <a:spLocks noChangeArrowheads="1"/>
                </p:cNvSpPr>
                <p:nvPr/>
              </p:nvSpPr>
              <p:spPr bwMode="auto">
                <a:xfrm>
                  <a:off x="11128881" y="8310913"/>
                  <a:ext cx="576262" cy="38417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txBody>
                <a:bodyPr wrap="none" lIns="88912" tIns="46234" rIns="88912" bIns="46234" anchor="ctr"/>
                <a:lstStyle>
                  <a:lvl1pPr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endParaRPr lang="ko-KR" altLang="en-US" sz="5730"/>
                </a:p>
              </p:txBody>
            </p:sp>
            <p:sp>
              <p:nvSpPr>
                <p:cNvPr id="25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1736893" y="8142638"/>
                  <a:ext cx="8683625" cy="5873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88912" tIns="46234" rIns="88912" bIns="46234">
                  <a:spAutoFit/>
                </a:bodyPr>
                <a:lstStyle>
                  <a:lvl1pPr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defTabSz="2952750" eaLnBrk="0" hangingPunct="0"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295275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58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hangingPunct="1"/>
                  <a:r>
                    <a:rPr lang="ko-KR" altLang="en-US" sz="3200" dirty="0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연구실명</a:t>
                  </a:r>
                  <a:r>
                    <a:rPr lang="en-US" altLang="ko-KR" sz="3200" dirty="0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:  </a:t>
                  </a:r>
                  <a:r>
                    <a:rPr lang="ko-KR" altLang="en-US" sz="3200" dirty="0" err="1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신동군</a:t>
                  </a:r>
                  <a:r>
                    <a:rPr lang="ko-KR" altLang="en-US" sz="3200" dirty="0">
                      <a:latin typeface="HY견고딕" panose="02030600000101010101" pitchFamily="18" charset="-127"/>
                      <a:ea typeface="HY견고딕" panose="02030600000101010101" pitchFamily="18" charset="-127"/>
                    </a:rPr>
                    <a:t> 교수님</a:t>
                  </a:r>
                </a:p>
              </p:txBody>
            </p:sp>
          </p:grpSp>
        </p:grpSp>
      </p:grpSp>
      <p:grpSp>
        <p:nvGrpSpPr>
          <p:cNvPr id="44" name="그룹 43"/>
          <p:cNvGrpSpPr/>
          <p:nvPr/>
        </p:nvGrpSpPr>
        <p:grpSpPr>
          <a:xfrm>
            <a:off x="358616" y="8182798"/>
            <a:ext cx="10379106" cy="5122113"/>
            <a:chOff x="36513" y="8083553"/>
            <a:chExt cx="10506075" cy="5184772"/>
          </a:xfrm>
        </p:grpSpPr>
        <p:grpSp>
          <p:nvGrpSpPr>
            <p:cNvPr id="47" name="Group 5"/>
            <p:cNvGrpSpPr>
              <a:grpSpLocks/>
            </p:cNvGrpSpPr>
            <p:nvPr/>
          </p:nvGrpSpPr>
          <p:grpSpPr bwMode="auto">
            <a:xfrm>
              <a:off x="36513" y="8083553"/>
              <a:ext cx="10506075" cy="1223963"/>
              <a:chOff x="23" y="5092"/>
              <a:chExt cx="6618" cy="771"/>
            </a:xfrm>
          </p:grpSpPr>
          <p:sp>
            <p:nvSpPr>
              <p:cNvPr id="51" name="AutoShape 6"/>
              <p:cNvSpPr>
                <a:spLocks noChangeArrowheads="1"/>
              </p:cNvSpPr>
              <p:nvPr/>
            </p:nvSpPr>
            <p:spPr bwMode="auto">
              <a:xfrm>
                <a:off x="250" y="5319"/>
                <a:ext cx="6391" cy="544"/>
              </a:xfrm>
              <a:prstGeom prst="flowChartAlternateProcess">
                <a:avLst/>
              </a:prstGeom>
              <a:gradFill rotWithShape="1">
                <a:gsLst>
                  <a:gs pos="74000">
                    <a:srgbClr val="336699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2915454">
                  <a:defRPr/>
                </a:pPr>
                <a:r>
                  <a:rPr lang="en-US" altLang="ko-KR" sz="3952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   </a:t>
                </a:r>
                <a:r>
                  <a:rPr lang="ko-KR" altLang="en-US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개 요 </a:t>
                </a:r>
              </a:p>
            </p:txBody>
          </p:sp>
          <p:sp>
            <p:nvSpPr>
              <p:cNvPr id="52" name="Text Box 7"/>
              <p:cNvSpPr txBox="1">
                <a:spLocks noChangeArrowheads="1"/>
              </p:cNvSpPr>
              <p:nvPr/>
            </p:nvSpPr>
            <p:spPr bwMode="auto">
              <a:xfrm>
                <a:off x="23" y="5092"/>
                <a:ext cx="590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12" tIns="46234" rIns="88912" bIns="46234">
                <a:spAutoFit/>
              </a:bodyPr>
              <a:lstStyle>
                <a:lvl1pPr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5927" b="1">
                    <a:solidFill>
                      <a:schemeClr val="bg1"/>
                    </a:solidFill>
                  </a:rPr>
                  <a:t>ⓔ</a:t>
                </a:r>
              </a:p>
            </p:txBody>
          </p:sp>
        </p:grpSp>
        <p:sp>
          <p:nvSpPr>
            <p:cNvPr id="46" name="Text Box 31"/>
            <p:cNvSpPr txBox="1">
              <a:spLocks noChangeArrowheads="1"/>
            </p:cNvSpPr>
            <p:nvPr/>
          </p:nvSpPr>
          <p:spPr bwMode="auto">
            <a:xfrm>
              <a:off x="396875" y="9604375"/>
              <a:ext cx="10118725" cy="3663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88912" tIns="46234" rIns="88912" bIns="46234"/>
            <a:lstStyle>
              <a:lvl1pPr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ko-KR" altLang="en-US" sz="2600" dirty="0">
                  <a:solidFill>
                    <a:srgbClr val="000000"/>
                  </a:solidFill>
                </a:rPr>
                <a:t>개인 투자자가 DART 공시를 직접 분석하기 어려운 정보 비대칭 문제를 해결하기 위해, 한국 시가총액 상위 10개 기업의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사업·반기·분기보고서를</a:t>
              </a:r>
              <a:r>
                <a:rPr lang="ko-KR" altLang="en-US" sz="2600" dirty="0">
                  <a:solidFill>
                    <a:srgbClr val="000000"/>
                  </a:solidFill>
                </a:rPr>
                <a:t> 자연어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Q&amp;A로</a:t>
              </a:r>
              <a:r>
                <a:rPr lang="ko-KR" altLang="en-US" sz="2600" dirty="0">
                  <a:solidFill>
                    <a:srgbClr val="000000"/>
                  </a:solidFill>
                </a:rPr>
                <a:t> 탐색할 수 있는 AI 주식 분석 비서를 개발하였다. 텍스트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RAG의</a:t>
              </a:r>
              <a:r>
                <a:rPr lang="ko-KR" altLang="en-US" sz="2600" dirty="0">
                  <a:solidFill>
                    <a:srgbClr val="000000"/>
                  </a:solidFill>
                </a:rPr>
                <a:t> 표 인식 한계(수치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환각·손실</a:t>
              </a:r>
              <a:r>
                <a:rPr lang="ko-KR" altLang="en-US" sz="2600" dirty="0">
                  <a:solidFill>
                    <a:srgbClr val="000000"/>
                  </a:solidFill>
                </a:rPr>
                <a:t> 압축)를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Vision</a:t>
              </a:r>
              <a:r>
                <a:rPr lang="ko-KR" altLang="en-US" sz="2600" dirty="0">
                  <a:solidFill>
                    <a:srgbClr val="000000"/>
                  </a:solidFill>
                </a:rPr>
                <a:t>-RAG 대신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DART의</a:t>
              </a:r>
              <a:r>
                <a:rPr lang="ko-KR" altLang="en-US" sz="2600" dirty="0">
                  <a:solidFill>
                    <a:srgbClr val="000000"/>
                  </a:solidFill>
                </a:rPr>
                <a:t> XBRL 본문 메타데이터를 직접 활용하는 사실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DB로</a:t>
              </a:r>
              <a:r>
                <a:rPr lang="ko-KR" altLang="en-US" sz="2600" dirty="0">
                  <a:solidFill>
                    <a:srgbClr val="000000"/>
                  </a:solidFill>
                </a:rPr>
                <a:t> 해결하여, 정형 수치 질의 96.2%의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정답률을</a:t>
              </a:r>
              <a:r>
                <a:rPr lang="ko-KR" altLang="en-US" sz="2600" dirty="0">
                  <a:solidFill>
                    <a:srgbClr val="000000"/>
                  </a:solidFill>
                </a:rPr>
                <a:t> 달성하였다.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FastAPI</a:t>
              </a:r>
              <a:r>
                <a:rPr lang="ko-KR" altLang="en-US" sz="2600" dirty="0">
                  <a:solidFill>
                    <a:srgbClr val="000000"/>
                  </a:solidFill>
                </a:rPr>
                <a:t> +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Streamlit</a:t>
              </a:r>
              <a:r>
                <a:rPr lang="ko-KR" altLang="en-US" sz="2600" dirty="0">
                  <a:solidFill>
                    <a:srgbClr val="000000"/>
                  </a:solidFill>
                </a:rPr>
                <a:t> 기반 웹 애플리케이션으로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ngrok을</a:t>
              </a:r>
              <a:r>
                <a:rPr lang="ko-KR" altLang="en-US" sz="2600" dirty="0">
                  <a:solidFill>
                    <a:srgbClr val="000000"/>
                  </a:solidFill>
                </a:rPr>
                <a:t> 통해 외부 사용자가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접속·이용</a:t>
              </a:r>
              <a:r>
                <a:rPr lang="ko-KR" altLang="en-US" sz="2600" dirty="0">
                  <a:solidFill>
                    <a:srgbClr val="000000"/>
                  </a:solidFill>
                </a:rPr>
                <a:t> 가능하다.</a:t>
              </a:r>
              <a:endParaRPr lang="ko-KR" altLang="ko-KR" sz="2600" dirty="0"/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10848407" y="8190106"/>
            <a:ext cx="10379106" cy="5122113"/>
            <a:chOff x="36513" y="8083553"/>
            <a:chExt cx="10506075" cy="5184772"/>
          </a:xfrm>
        </p:grpSpPr>
        <p:grpSp>
          <p:nvGrpSpPr>
            <p:cNvPr id="68" name="Group 5"/>
            <p:cNvGrpSpPr>
              <a:grpSpLocks/>
            </p:cNvGrpSpPr>
            <p:nvPr/>
          </p:nvGrpSpPr>
          <p:grpSpPr bwMode="auto">
            <a:xfrm>
              <a:off x="36513" y="8083553"/>
              <a:ext cx="10506075" cy="1223963"/>
              <a:chOff x="23" y="5092"/>
              <a:chExt cx="6618" cy="771"/>
            </a:xfrm>
          </p:grpSpPr>
          <p:sp>
            <p:nvSpPr>
              <p:cNvPr id="70" name="AutoShape 6"/>
              <p:cNvSpPr>
                <a:spLocks noChangeArrowheads="1"/>
              </p:cNvSpPr>
              <p:nvPr/>
            </p:nvSpPr>
            <p:spPr bwMode="auto">
              <a:xfrm>
                <a:off x="250" y="5319"/>
                <a:ext cx="6391" cy="544"/>
              </a:xfrm>
              <a:prstGeom prst="flowChartAlternateProcess">
                <a:avLst/>
              </a:prstGeom>
              <a:gradFill rotWithShape="1">
                <a:gsLst>
                  <a:gs pos="74000">
                    <a:srgbClr val="336699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2915454">
                  <a:defRPr/>
                </a:pPr>
                <a:r>
                  <a:rPr lang="en-US" altLang="ko-KR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   </a:t>
                </a:r>
                <a:r>
                  <a:rPr lang="ko-KR" altLang="en-US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구현 방법</a:t>
                </a:r>
              </a:p>
            </p:txBody>
          </p:sp>
          <p:sp>
            <p:nvSpPr>
              <p:cNvPr id="71" name="Text Box 7"/>
              <p:cNvSpPr txBox="1">
                <a:spLocks noChangeArrowheads="1"/>
              </p:cNvSpPr>
              <p:nvPr/>
            </p:nvSpPr>
            <p:spPr bwMode="auto">
              <a:xfrm>
                <a:off x="23" y="5092"/>
                <a:ext cx="590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12" tIns="46234" rIns="88912" bIns="46234">
                <a:spAutoFit/>
              </a:bodyPr>
              <a:lstStyle>
                <a:lvl1pPr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5927" b="1">
                    <a:solidFill>
                      <a:schemeClr val="bg1"/>
                    </a:solidFill>
                  </a:rPr>
                  <a:t>ⓔ</a:t>
                </a:r>
              </a:p>
            </p:txBody>
          </p:sp>
        </p:grpSp>
        <p:sp>
          <p:nvSpPr>
            <p:cNvPr id="69" name="Text Box 31"/>
            <p:cNvSpPr txBox="1">
              <a:spLocks noChangeArrowheads="1"/>
            </p:cNvSpPr>
            <p:nvPr/>
          </p:nvSpPr>
          <p:spPr bwMode="auto">
            <a:xfrm>
              <a:off x="396875" y="9604375"/>
              <a:ext cx="10118725" cy="3663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88912" tIns="46234" rIns="88912" bIns="46234"/>
            <a:lstStyle>
              <a:lvl1pPr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285750" indent="-285750">
                <a:spcBef>
                  <a:spcPct val="30000"/>
                </a:spcBef>
              </a:pPr>
              <a:r>
                <a:rPr lang="ko-KR" altLang="en-US" sz="2400" dirty="0">
                  <a:solidFill>
                    <a:srgbClr val="000000"/>
                  </a:solidFill>
                </a:rPr>
                <a:t>1.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DART에서</a:t>
              </a:r>
              <a:r>
                <a:rPr lang="ko-KR" altLang="en-US" sz="2400" dirty="0">
                  <a:solidFill>
                    <a:srgbClr val="000000"/>
                  </a:solidFill>
                </a:rPr>
                <a:t> XBRL 본문 다운로드 (10개 기업, 167개 보고서)</a:t>
              </a:r>
              <a:endParaRPr lang="ko-KR" altLang="ko-KR" sz="2400" dirty="0"/>
            </a:p>
            <a:p>
              <a:pPr marL="285750" indent="-285750">
                <a:spcBef>
                  <a:spcPct val="30000"/>
                </a:spcBef>
              </a:pPr>
              <a:r>
                <a:rPr lang="ko-KR" altLang="en-US" sz="2400" dirty="0">
                  <a:solidFill>
                    <a:srgbClr val="000000"/>
                  </a:solidFill>
                </a:rPr>
                <a:t>2. XBRL 파싱 → 사실 DB 구축 (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SQLite</a:t>
              </a:r>
              <a:r>
                <a:rPr lang="ko-KR" altLang="en-US" sz="2400" dirty="0">
                  <a:solidFill>
                    <a:srgbClr val="000000"/>
                  </a:solidFill>
                </a:rPr>
                <a:t>, 약 5.5만 건)</a:t>
              </a:r>
              <a:endParaRPr lang="ko-KR" altLang="ko-KR" sz="2400" dirty="0"/>
            </a:p>
            <a:p>
              <a:pPr marL="285750" indent="-285750">
                <a:spcBef>
                  <a:spcPct val="30000"/>
                </a:spcBef>
              </a:pPr>
              <a:r>
                <a:rPr lang="ko-KR" altLang="en-US" sz="2400" dirty="0">
                  <a:solidFill>
                    <a:srgbClr val="000000"/>
                  </a:solidFill>
                </a:rPr>
                <a:t>3. 본문 텍스트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청킹</a:t>
              </a:r>
              <a:r>
                <a:rPr lang="ko-KR" altLang="en-US" sz="2400" dirty="0">
                  <a:solidFill>
                    <a:srgbClr val="000000"/>
                  </a:solidFill>
                </a:rPr>
                <a:t> →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Chroma</a:t>
              </a:r>
              <a:r>
                <a:rPr lang="ko-KR" altLang="en-US" sz="2400" dirty="0">
                  <a:solidFill>
                    <a:srgbClr val="000000"/>
                  </a:solidFill>
                </a:rPr>
                <a:t> 벡터 DB (약 13,544개)</a:t>
              </a:r>
              <a:endParaRPr lang="ko-KR" altLang="ko-KR" sz="2400" dirty="0"/>
            </a:p>
            <a:p>
              <a:pPr marL="285750" indent="-285750">
                <a:spcBef>
                  <a:spcPct val="30000"/>
                </a:spcBef>
              </a:pPr>
              <a:r>
                <a:rPr lang="ko-KR" altLang="en-US" sz="2400" dirty="0">
                  <a:solidFill>
                    <a:srgbClr val="000000"/>
                  </a:solidFill>
                </a:rPr>
                <a:t>4. 7-의도 라우터 설계 (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fact</a:t>
              </a:r>
              <a:r>
                <a:rPr lang="ko-KR" altLang="en-US" sz="2400" dirty="0">
                  <a:solidFill>
                    <a:srgbClr val="000000"/>
                  </a:solidFill>
                </a:rPr>
                <a:t> /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narrative</a:t>
              </a:r>
              <a:r>
                <a:rPr lang="ko-KR" altLang="en-US" sz="2400" dirty="0">
                  <a:solidFill>
                    <a:srgbClr val="000000"/>
                  </a:solidFill>
                </a:rPr>
                <a:t> /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hybrid</a:t>
              </a:r>
              <a:r>
                <a:rPr lang="ko-KR" altLang="en-US" sz="2400" dirty="0">
                  <a:solidFill>
                    <a:srgbClr val="000000"/>
                  </a:solidFill>
                </a:rPr>
                <a:t> /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definition</a:t>
              </a:r>
              <a:r>
                <a:rPr lang="ko-KR" altLang="en-US" sz="2400" dirty="0">
                  <a:solidFill>
                    <a:srgbClr val="000000"/>
                  </a:solidFill>
                </a:rPr>
                <a:t> /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sector</a:t>
              </a:r>
              <a:r>
                <a:rPr lang="ko-KR" altLang="en-US" sz="2400" dirty="0">
                  <a:solidFill>
                    <a:srgbClr val="000000"/>
                  </a:solidFill>
                </a:rPr>
                <a:t> /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news</a:t>
              </a:r>
              <a:r>
                <a:rPr lang="ko-KR" altLang="en-US" sz="2400" dirty="0">
                  <a:solidFill>
                    <a:srgbClr val="000000"/>
                  </a:solidFill>
                </a:rPr>
                <a:t> /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general</a:t>
              </a:r>
              <a:r>
                <a:rPr lang="ko-KR" altLang="en-US" sz="2400" dirty="0">
                  <a:solidFill>
                    <a:srgbClr val="000000"/>
                  </a:solidFill>
                </a:rPr>
                <a:t>)</a:t>
              </a:r>
              <a:endParaRPr lang="ko-KR" altLang="ko-KR" sz="2400" dirty="0"/>
            </a:p>
            <a:p>
              <a:pPr marL="285750" indent="-285750">
                <a:spcBef>
                  <a:spcPct val="30000"/>
                </a:spcBef>
              </a:pPr>
              <a:r>
                <a:rPr lang="ko-KR" altLang="en-US" sz="2400" dirty="0">
                  <a:solidFill>
                    <a:srgbClr val="000000"/>
                  </a:solidFill>
                </a:rPr>
                <a:t>5.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FastAPI</a:t>
              </a:r>
              <a:r>
                <a:rPr lang="ko-KR" altLang="en-US" sz="2400" dirty="0">
                  <a:solidFill>
                    <a:srgbClr val="000000"/>
                  </a:solidFill>
                </a:rPr>
                <a:t>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백엔드</a:t>
              </a:r>
              <a:r>
                <a:rPr lang="ko-KR" altLang="en-US" sz="2400" dirty="0">
                  <a:solidFill>
                    <a:srgbClr val="000000"/>
                  </a:solidFill>
                </a:rPr>
                <a:t> +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Streamlit</a:t>
              </a:r>
              <a:r>
                <a:rPr lang="ko-KR" altLang="en-US" sz="2400" dirty="0">
                  <a:solidFill>
                    <a:srgbClr val="000000"/>
                  </a:solidFill>
                </a:rPr>
                <a:t>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프론트엔드</a:t>
              </a:r>
              <a:r>
                <a:rPr lang="ko-KR" altLang="en-US" sz="2400" dirty="0">
                  <a:solidFill>
                    <a:srgbClr val="000000"/>
                  </a:solidFill>
                </a:rPr>
                <a:t> 통합</a:t>
              </a:r>
              <a:endParaRPr lang="ko-KR" altLang="ko-KR" sz="2400" dirty="0"/>
            </a:p>
            <a:p>
              <a:pPr marL="285750" indent="-285750">
                <a:spcBef>
                  <a:spcPct val="30000"/>
                </a:spcBef>
              </a:pPr>
              <a:r>
                <a:rPr lang="ko-KR" altLang="en-US" sz="2400" dirty="0">
                  <a:solidFill>
                    <a:srgbClr val="000000"/>
                  </a:solidFill>
                </a:rPr>
                <a:t>6. </a:t>
              </a:r>
              <a:r>
                <a:rPr lang="ko-KR" altLang="en-US" sz="2400" dirty="0" err="1">
                  <a:solidFill>
                    <a:srgbClr val="000000"/>
                  </a:solidFill>
                </a:rPr>
                <a:t>ngrok으로</a:t>
              </a:r>
              <a:r>
                <a:rPr lang="ko-KR" altLang="en-US" sz="2400" dirty="0">
                  <a:solidFill>
                    <a:srgbClr val="000000"/>
                  </a:solidFill>
                </a:rPr>
                <a:t> 외부 노출, 평가 셋(45개) 정량 측정</a:t>
              </a:r>
              <a:endParaRPr lang="ko-KR" altLang="ko-KR" sz="2400" dirty="0"/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376962" y="13249483"/>
            <a:ext cx="10379106" cy="13084577"/>
            <a:chOff x="36513" y="8083553"/>
            <a:chExt cx="10506075" cy="13244642"/>
          </a:xfrm>
        </p:grpSpPr>
        <p:grpSp>
          <p:nvGrpSpPr>
            <p:cNvPr id="73" name="Group 5"/>
            <p:cNvGrpSpPr>
              <a:grpSpLocks/>
            </p:cNvGrpSpPr>
            <p:nvPr/>
          </p:nvGrpSpPr>
          <p:grpSpPr bwMode="auto">
            <a:xfrm>
              <a:off x="36513" y="8083553"/>
              <a:ext cx="10506075" cy="1223963"/>
              <a:chOff x="23" y="5092"/>
              <a:chExt cx="6618" cy="771"/>
            </a:xfrm>
          </p:grpSpPr>
          <p:sp>
            <p:nvSpPr>
              <p:cNvPr id="75" name="AutoShape 6"/>
              <p:cNvSpPr>
                <a:spLocks noChangeArrowheads="1"/>
              </p:cNvSpPr>
              <p:nvPr/>
            </p:nvSpPr>
            <p:spPr bwMode="auto">
              <a:xfrm>
                <a:off x="250" y="5319"/>
                <a:ext cx="6391" cy="544"/>
              </a:xfrm>
              <a:prstGeom prst="flowChartAlternateProcess">
                <a:avLst/>
              </a:prstGeom>
              <a:gradFill rotWithShape="1">
                <a:gsLst>
                  <a:gs pos="74000">
                    <a:srgbClr val="336699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2915454">
                  <a:defRPr/>
                </a:pPr>
                <a:r>
                  <a:rPr lang="en-US" altLang="ko-KR" sz="3952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   </a:t>
                </a:r>
                <a:r>
                  <a:rPr lang="ko-KR" altLang="en-US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시스템 구성</a:t>
                </a:r>
              </a:p>
            </p:txBody>
          </p:sp>
          <p:sp>
            <p:nvSpPr>
              <p:cNvPr id="76" name="Text Box 7"/>
              <p:cNvSpPr txBox="1">
                <a:spLocks noChangeArrowheads="1"/>
              </p:cNvSpPr>
              <p:nvPr/>
            </p:nvSpPr>
            <p:spPr bwMode="auto">
              <a:xfrm>
                <a:off x="23" y="5092"/>
                <a:ext cx="590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12" tIns="46234" rIns="88912" bIns="46234">
                <a:spAutoFit/>
              </a:bodyPr>
              <a:lstStyle>
                <a:lvl1pPr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5927" b="1">
                    <a:solidFill>
                      <a:schemeClr val="bg1"/>
                    </a:solidFill>
                  </a:rPr>
                  <a:t>ⓔ</a:t>
                </a:r>
              </a:p>
            </p:txBody>
          </p:sp>
        </p:grpSp>
        <p:sp>
          <p:nvSpPr>
            <p:cNvPr id="74" name="Text Box 31"/>
            <p:cNvSpPr txBox="1">
              <a:spLocks noChangeArrowheads="1"/>
            </p:cNvSpPr>
            <p:nvPr/>
          </p:nvSpPr>
          <p:spPr bwMode="auto">
            <a:xfrm>
              <a:off x="396875" y="9604374"/>
              <a:ext cx="10118725" cy="11723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88912" tIns="46234" rIns="88912" bIns="46234"/>
            <a:lstStyle>
              <a:lvl1pPr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ko-KR" altLang="ko-KR" sz="2766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endParaRPr lang="ko-KR" altLang="ko-KR" sz="2766" dirty="0">
                <a:solidFill>
                  <a:srgbClr val="000000"/>
                </a:solidFill>
              </a:endParaRPr>
            </a:p>
            <a:p>
              <a:pPr eaLnBrk="1" hangingPunct="1">
                <a:spcBef>
                  <a:spcPct val="50000"/>
                </a:spcBef>
              </a:pPr>
              <a:endParaRPr lang="ko-KR" altLang="ko-KR" sz="2766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0934071" y="25157862"/>
            <a:ext cx="10379106" cy="5122113"/>
            <a:chOff x="36513" y="8083553"/>
            <a:chExt cx="10506075" cy="5184772"/>
          </a:xfrm>
        </p:grpSpPr>
        <p:grpSp>
          <p:nvGrpSpPr>
            <p:cNvPr id="78" name="Group 5"/>
            <p:cNvGrpSpPr>
              <a:grpSpLocks/>
            </p:cNvGrpSpPr>
            <p:nvPr/>
          </p:nvGrpSpPr>
          <p:grpSpPr bwMode="auto">
            <a:xfrm>
              <a:off x="36513" y="8083553"/>
              <a:ext cx="10506075" cy="1223963"/>
              <a:chOff x="23" y="5092"/>
              <a:chExt cx="6618" cy="771"/>
            </a:xfrm>
          </p:grpSpPr>
          <p:sp>
            <p:nvSpPr>
              <p:cNvPr id="80" name="AutoShape 6"/>
              <p:cNvSpPr>
                <a:spLocks noChangeArrowheads="1"/>
              </p:cNvSpPr>
              <p:nvPr/>
            </p:nvSpPr>
            <p:spPr bwMode="auto">
              <a:xfrm>
                <a:off x="250" y="5319"/>
                <a:ext cx="6391" cy="544"/>
              </a:xfrm>
              <a:prstGeom prst="flowChartAlternateProcess">
                <a:avLst/>
              </a:prstGeom>
              <a:gradFill rotWithShape="1">
                <a:gsLst>
                  <a:gs pos="74000">
                    <a:srgbClr val="336699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2915454">
                  <a:defRPr/>
                </a:pPr>
                <a:r>
                  <a:rPr lang="ko-KR" altLang="en-US" sz="3952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   결 </a:t>
                </a:r>
                <a:r>
                  <a:rPr lang="ko-KR" altLang="en-US" sz="3952" b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론</a:t>
                </a:r>
                <a:endParaRPr lang="ko-KR" altLang="en-US" sz="3952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1" name="Text Box 7"/>
              <p:cNvSpPr txBox="1">
                <a:spLocks noChangeArrowheads="1"/>
              </p:cNvSpPr>
              <p:nvPr/>
            </p:nvSpPr>
            <p:spPr bwMode="auto">
              <a:xfrm>
                <a:off x="23" y="5092"/>
                <a:ext cx="590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12" tIns="46234" rIns="88912" bIns="46234">
                <a:spAutoFit/>
              </a:bodyPr>
              <a:lstStyle>
                <a:lvl1pPr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5927" b="1">
                    <a:solidFill>
                      <a:schemeClr val="bg1"/>
                    </a:solidFill>
                  </a:rPr>
                  <a:t>ⓔ</a:t>
                </a:r>
              </a:p>
            </p:txBody>
          </p:sp>
        </p:grpSp>
        <p:sp>
          <p:nvSpPr>
            <p:cNvPr id="79" name="Text Box 31"/>
            <p:cNvSpPr txBox="1">
              <a:spLocks noChangeArrowheads="1"/>
            </p:cNvSpPr>
            <p:nvPr/>
          </p:nvSpPr>
          <p:spPr bwMode="auto">
            <a:xfrm>
              <a:off x="396875" y="9604375"/>
              <a:ext cx="10118725" cy="3663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88912" tIns="46234" rIns="88912" bIns="46234"/>
            <a:lstStyle>
              <a:lvl1pPr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ko-KR" altLang="en-US" sz="2800" dirty="0">
                  <a:solidFill>
                    <a:srgbClr val="000000"/>
                  </a:solidFill>
                </a:rPr>
                <a:t>본 작품은 </a:t>
              </a:r>
              <a:r>
                <a:rPr lang="ko-KR" altLang="en-US" sz="2800" dirty="0" err="1">
                  <a:solidFill>
                    <a:srgbClr val="000000"/>
                  </a:solidFill>
                </a:rPr>
                <a:t>DART의</a:t>
              </a:r>
              <a:r>
                <a:rPr lang="ko-KR" altLang="en-US" sz="2800" dirty="0">
                  <a:solidFill>
                    <a:srgbClr val="000000"/>
                  </a:solidFill>
                </a:rPr>
                <a:t> XBRL 메타데이터를 직접 활용하는 사실 </a:t>
              </a:r>
              <a:r>
                <a:rPr lang="ko-KR" altLang="en-US" sz="2800" dirty="0" err="1">
                  <a:solidFill>
                    <a:srgbClr val="000000"/>
                  </a:solidFill>
                </a:rPr>
                <a:t>DB와</a:t>
              </a:r>
              <a:r>
                <a:rPr lang="ko-KR" altLang="en-US" sz="2800" dirty="0">
                  <a:solidFill>
                    <a:srgbClr val="000000"/>
                  </a:solidFill>
                </a:rPr>
                <a:t> 본문 </a:t>
              </a:r>
              <a:r>
                <a:rPr lang="ko-KR" altLang="en-US" sz="2800" dirty="0" err="1">
                  <a:solidFill>
                    <a:srgbClr val="000000"/>
                  </a:solidFill>
                </a:rPr>
                <a:t>RAG의</a:t>
              </a:r>
              <a:r>
                <a:rPr lang="ko-KR" altLang="en-US" sz="2800" dirty="0">
                  <a:solidFill>
                    <a:srgbClr val="000000"/>
                  </a:solidFill>
                </a:rPr>
                <a:t> 하이브리드 구조로 단순 RAG 베이스라인 대비 12~25배 성능 향상(96.2%)을 달성하였다. 도메인 표준이 존재하는 영역에서는 </a:t>
              </a:r>
              <a:r>
                <a:rPr lang="ko-KR" altLang="en-US" sz="2800" dirty="0" err="1">
                  <a:solidFill>
                    <a:srgbClr val="000000"/>
                  </a:solidFill>
                </a:rPr>
                <a:t>멀티모달</a:t>
              </a:r>
              <a:r>
                <a:rPr lang="ko-KR" altLang="en-US" sz="2800" dirty="0">
                  <a:solidFill>
                    <a:srgbClr val="000000"/>
                  </a:solidFill>
                </a:rPr>
                <a:t> LLM 도입 전 도메인 메타데이터 활용을 우선 검토해야 한다는 방법론적 시사점을 제공한다. 향후 KOSPI 200 기업으로 확대하고 다중 LLM </a:t>
              </a:r>
              <a:r>
                <a:rPr lang="ko-KR" altLang="en-US" sz="2800" dirty="0" err="1">
                  <a:solidFill>
                    <a:srgbClr val="000000"/>
                  </a:solidFill>
                </a:rPr>
                <a:t>폴백</a:t>
              </a:r>
              <a:r>
                <a:rPr lang="ko-KR" altLang="en-US" sz="2800" dirty="0">
                  <a:solidFill>
                    <a:srgbClr val="000000"/>
                  </a:solidFill>
                </a:rPr>
                <a:t> 메커니즘을 도입하여 외부 의존성을 완화할 수 있다.</a:t>
              </a:r>
              <a:endParaRPr lang="ko-KR" altLang="ko-KR" sz="2800" dirty="0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10821745" y="12472850"/>
            <a:ext cx="10379106" cy="5122113"/>
            <a:chOff x="36513" y="8083553"/>
            <a:chExt cx="10506075" cy="5184772"/>
          </a:xfrm>
        </p:grpSpPr>
        <p:grpSp>
          <p:nvGrpSpPr>
            <p:cNvPr id="83" name="Group 5"/>
            <p:cNvGrpSpPr>
              <a:grpSpLocks/>
            </p:cNvGrpSpPr>
            <p:nvPr/>
          </p:nvGrpSpPr>
          <p:grpSpPr bwMode="auto">
            <a:xfrm>
              <a:off x="36513" y="8083553"/>
              <a:ext cx="10506075" cy="1223963"/>
              <a:chOff x="23" y="5092"/>
              <a:chExt cx="6618" cy="771"/>
            </a:xfrm>
          </p:grpSpPr>
          <p:sp>
            <p:nvSpPr>
              <p:cNvPr id="85" name="AutoShape 6"/>
              <p:cNvSpPr>
                <a:spLocks noChangeArrowheads="1"/>
              </p:cNvSpPr>
              <p:nvPr/>
            </p:nvSpPr>
            <p:spPr bwMode="auto">
              <a:xfrm>
                <a:off x="250" y="5319"/>
                <a:ext cx="6391" cy="544"/>
              </a:xfrm>
              <a:prstGeom prst="flowChartAlternateProcess">
                <a:avLst/>
              </a:prstGeom>
              <a:gradFill rotWithShape="1">
                <a:gsLst>
                  <a:gs pos="74000">
                    <a:srgbClr val="336699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defTabSz="2915454">
                  <a:defRPr/>
                </a:pPr>
                <a:r>
                  <a:rPr lang="en-US" altLang="ko-KR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   </a:t>
                </a:r>
                <a:r>
                  <a:rPr lang="ko-KR" altLang="en-US" sz="4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결 과</a:t>
                </a:r>
              </a:p>
            </p:txBody>
          </p:sp>
          <p:sp>
            <p:nvSpPr>
              <p:cNvPr id="86" name="Text Box 7"/>
              <p:cNvSpPr txBox="1">
                <a:spLocks noChangeArrowheads="1"/>
              </p:cNvSpPr>
              <p:nvPr/>
            </p:nvSpPr>
            <p:spPr bwMode="auto">
              <a:xfrm>
                <a:off x="23" y="5092"/>
                <a:ext cx="590" cy="6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88912" tIns="46234" rIns="88912" bIns="46234">
                <a:spAutoFit/>
              </a:bodyPr>
              <a:lstStyle>
                <a:lvl1pPr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defTabSz="2952750" eaLnBrk="0" hangingPunct="0"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295275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5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hangingPunct="1"/>
                <a:r>
                  <a:rPr lang="en-US" altLang="ko-KR" sz="5927" b="1">
                    <a:solidFill>
                      <a:schemeClr val="bg1"/>
                    </a:solidFill>
                  </a:rPr>
                  <a:t>ⓔ</a:t>
                </a:r>
              </a:p>
            </p:txBody>
          </p:sp>
        </p:grpSp>
        <p:sp>
          <p:nvSpPr>
            <p:cNvPr id="84" name="Text Box 31"/>
            <p:cNvSpPr txBox="1">
              <a:spLocks noChangeArrowheads="1"/>
            </p:cNvSpPr>
            <p:nvPr/>
          </p:nvSpPr>
          <p:spPr bwMode="auto">
            <a:xfrm>
              <a:off x="396875" y="9604375"/>
              <a:ext cx="10118725" cy="3663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dash"/>
                  <a:miter lim="800000"/>
                  <a:headEnd/>
                  <a:tailEnd/>
                </a14:hiddenLine>
              </a:ext>
            </a:extLst>
          </p:spPr>
          <p:txBody>
            <a:bodyPr lIns="88912" tIns="46234" rIns="88912" bIns="46234"/>
            <a:lstStyle>
              <a:lvl1pPr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2952750" eaLnBrk="0" hangingPunct="0"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2952750" eaLnBrk="0" fontAlgn="base" hangingPunct="0">
                <a:spcBef>
                  <a:spcPct val="0"/>
                </a:spcBef>
                <a:spcAft>
                  <a:spcPct val="0"/>
                </a:spcAft>
                <a:defRPr kumimoji="1" sz="5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228600" indent="-228600">
                <a:spcBef>
                  <a:spcPct val="30000"/>
                </a:spcBef>
                <a:buChar char="■"/>
              </a:pPr>
              <a:r>
                <a:rPr lang="ko-KR" altLang="en-US" sz="2600" dirty="0">
                  <a:solidFill>
                    <a:srgbClr val="000000"/>
                  </a:solidFill>
                </a:rPr>
                <a:t>정형 수치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정답률</a:t>
              </a:r>
              <a:r>
                <a:rPr lang="ko-KR" altLang="en-US" sz="2600" dirty="0">
                  <a:solidFill>
                    <a:srgbClr val="000000"/>
                  </a:solidFill>
                </a:rPr>
                <a:t>: 96.2% (25/26) —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Baseline</a:t>
              </a:r>
              <a:r>
                <a:rPr lang="ko-KR" altLang="en-US" sz="2600" dirty="0">
                  <a:solidFill>
                    <a:srgbClr val="000000"/>
                  </a:solidFill>
                </a:rPr>
                <a:t> RAG 대비 12~25배</a:t>
              </a:r>
              <a:endParaRPr lang="ko-KR" altLang="ko-KR" sz="2600" dirty="0"/>
            </a:p>
            <a:p>
              <a:pPr marL="228600" indent="-228600">
                <a:spcBef>
                  <a:spcPct val="30000"/>
                </a:spcBef>
                <a:buChar char="■"/>
              </a:pPr>
              <a:r>
                <a:rPr lang="ko-KR" altLang="en-US" sz="2600" dirty="0">
                  <a:solidFill>
                    <a:srgbClr val="000000"/>
                  </a:solidFill>
                </a:rPr>
                <a:t>사실 DB 5.5만 건, 본문 RAG 13,544 </a:t>
              </a:r>
              <a:r>
                <a:rPr lang="ko-KR" altLang="en-US" sz="2600" dirty="0" err="1">
                  <a:solidFill>
                    <a:srgbClr val="000000"/>
                  </a:solidFill>
                </a:rPr>
                <a:t>청크</a:t>
              </a:r>
              <a:endParaRPr lang="ko-KR" altLang="ko-KR" sz="2600" dirty="0"/>
            </a:p>
            <a:p>
              <a:pPr marL="228600" indent="-228600">
                <a:spcBef>
                  <a:spcPct val="30000"/>
                </a:spcBef>
                <a:buChar char="■"/>
              </a:pPr>
              <a:r>
                <a:rPr lang="ko-KR" altLang="en-US" sz="2600" dirty="0">
                  <a:solidFill>
                    <a:srgbClr val="000000"/>
                  </a:solidFill>
                </a:rPr>
                <a:t>응답 시간: 사실 조회 약 2.5초, 본문 RAG 약 11초 (GPU)</a:t>
              </a:r>
              <a:endParaRPr lang="ko-KR" altLang="ko-KR" sz="2600" dirty="0"/>
            </a:p>
            <a:p>
              <a:pPr marL="228600" indent="-228600">
                <a:spcBef>
                  <a:spcPct val="30000"/>
                </a:spcBef>
                <a:buChar char="■"/>
              </a:pPr>
              <a:r>
                <a:rPr lang="ko-KR" altLang="en-US" sz="2600" dirty="0">
                  <a:solidFill>
                    <a:srgbClr val="000000"/>
                  </a:solidFill>
                </a:rPr>
                <a:t>데이터 2배 확장(28K→55K) 후에도 정확도 동일 유지 (견고성)</a:t>
              </a:r>
              <a:endParaRPr lang="ko-KR" altLang="ko-KR" sz="2600" dirty="0"/>
            </a:p>
          </p:txBody>
        </p:sp>
      </p:grpSp>
      <p:graphicFrame>
        <p:nvGraphicFramePr>
          <p:cNvPr id="88" name="Group 1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384038"/>
              </p:ext>
            </p:extLst>
          </p:nvPr>
        </p:nvGraphicFramePr>
        <p:xfrm>
          <a:off x="963987" y="21870341"/>
          <a:ext cx="9884419" cy="7773140"/>
        </p:xfrm>
        <a:graphic>
          <a:graphicData uri="http://schemas.openxmlformats.org/drawingml/2006/table">
            <a:tbl>
              <a:tblPr/>
              <a:tblGrid>
                <a:gridCol w="2812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1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1186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데이터</a:t>
                      </a:r>
                    </a:p>
                  </a:txBody>
                  <a:tcPr marL="88912" marR="88912" marT="46234" marB="462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DART에서</a:t>
                      </a:r>
                      <a:r>
                        <a:rPr kumimoji="1" lang="ko-KR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추출한 XBRL 본문 5.5만 사실 + 본문 13,544 </a:t>
                      </a: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청크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8912" marR="88912" marT="46234" marB="462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2826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라우터</a:t>
                      </a:r>
                    </a:p>
                  </a:txBody>
                  <a:tcPr marL="88912" marR="88912" marT="46234" marB="462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한국어 7-의도 분류 (fact / narrative / hybrid / definition / sector / news / general)</a:t>
                      </a:r>
                    </a:p>
                  </a:txBody>
                  <a:tcPr marL="88912" marR="88912" marT="46234" marB="462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514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백엔드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8912" marR="88912" marT="46234" marB="4623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FastAPI 13개 REST 엔드포인트 + Swagger UI 자동 문서화</a:t>
                      </a:r>
                    </a:p>
                  </a:txBody>
                  <a:tcPr marL="88912" marR="88912" marT="46234" marB="462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3812"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프론트엔드</a:t>
                      </a:r>
                      <a:endParaRPr kumimoji="1" lang="en-US" altLang="ko-K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8912" marR="88912" marT="46234" marB="462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29527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Streamlit 4탭 (대시보드/비교/Q&amp;A/시스템) + ngrok 외부 노출</a:t>
                      </a:r>
                    </a:p>
                  </a:txBody>
                  <a:tcPr marL="88912" marR="88912" marT="46234" marB="462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5D3E2A3D-A820-6F64-8092-17CE82557F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7752" y="17888235"/>
            <a:ext cx="9970028" cy="58399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C51B2B-656D-C90C-DEC2-94C9AE359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59" y="15574962"/>
            <a:ext cx="9205188" cy="54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5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</TotalTime>
  <Words>426</Words>
  <Application>Microsoft Office PowerPoint</Application>
  <PresentationFormat>사용자 지정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HY견고딕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User</dc:creator>
  <cp:lastModifiedBy>재룡 유</cp:lastModifiedBy>
  <cp:revision>9</cp:revision>
  <dcterms:created xsi:type="dcterms:W3CDTF">2021-04-05T07:42:37Z</dcterms:created>
  <dcterms:modified xsi:type="dcterms:W3CDTF">2026-05-01T07:57:26Z</dcterms:modified>
</cp:coreProperties>
</file>